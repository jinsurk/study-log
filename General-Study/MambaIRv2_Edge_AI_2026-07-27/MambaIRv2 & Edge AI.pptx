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70" r:id="rId4"/>
    <p:sldId id="271" r:id="rId5"/>
    <p:sldId id="272" r:id="rId6"/>
    <p:sldId id="273" r:id="rId7"/>
    <p:sldId id="274" r:id="rId8"/>
    <p:sldId id="275" r:id="rId9"/>
    <p:sldId id="278" r:id="rId10"/>
    <p:sldId id="279" r:id="rId11"/>
    <p:sldId id="281" r:id="rId12"/>
    <p:sldId id="280" r:id="rId13"/>
    <p:sldId id="282" r:id="rId14"/>
    <p:sldId id="27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853" autoAdjust="0"/>
  </p:normalViewPr>
  <p:slideViewPr>
    <p:cSldViewPr snapToGrid="0">
      <p:cViewPr varScale="1">
        <p:scale>
          <a:sx n="70" d="100"/>
          <a:sy n="70" d="100"/>
        </p:scale>
        <p:origin x="58" y="13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3C82D-7FAC-4653-9500-793908011E14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750EA-5CE6-44EB-B4C5-5BAF91765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81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750EA-5CE6-44EB-B4C5-5BAF9176525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11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750EA-5CE6-44EB-B4C5-5BAF9176525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118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model.half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ko-KR" altLang="ko-KR" dirty="0"/>
              <a:t>는 모델의 모든 연산과 파라미터를 FP16으로 </a:t>
            </a:r>
            <a:r>
              <a:rPr lang="ko-KR" altLang="en-US" dirty="0"/>
              <a:t>바꿈</a:t>
            </a:r>
            <a:r>
              <a:rPr lang="en-US" altLang="ko-KR" dirty="0"/>
              <a:t>.</a:t>
            </a:r>
            <a:endParaRPr lang="ko-KR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 err="1"/>
              <a:t>Mamba</a:t>
            </a:r>
            <a:r>
              <a:rPr lang="ko-KR" altLang="ko-KR" dirty="0"/>
              <a:t> </a:t>
            </a:r>
            <a:r>
              <a:rPr lang="ko-KR" altLang="ko-KR" dirty="0" err="1"/>
              <a:t>Selective</a:t>
            </a:r>
            <a:r>
              <a:rPr lang="ko-KR" altLang="ko-KR" dirty="0"/>
              <a:t> </a:t>
            </a:r>
            <a:r>
              <a:rPr lang="ko-KR" altLang="ko-KR" dirty="0" err="1"/>
              <a:t>Scan</a:t>
            </a:r>
            <a:r>
              <a:rPr lang="ko-KR" altLang="ko-KR" dirty="0"/>
              <a:t> CUDA 연산의 FP16 안정성 문제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/>
              <a:t>DWT/</a:t>
            </a:r>
            <a:r>
              <a:rPr lang="ko-KR" altLang="ko-KR" dirty="0" err="1"/>
              <a:t>IDWT의</a:t>
            </a:r>
            <a:r>
              <a:rPr lang="ko-KR" altLang="ko-KR" dirty="0"/>
              <a:t> 작은 수치 오차 누적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 err="1"/>
              <a:t>LayerNorm</a:t>
            </a:r>
            <a:r>
              <a:rPr lang="ko-KR" altLang="ko-KR" dirty="0"/>
              <a:t>, </a:t>
            </a:r>
            <a:r>
              <a:rPr lang="ko-KR" altLang="ko-KR" dirty="0" err="1"/>
              <a:t>residual</a:t>
            </a:r>
            <a:r>
              <a:rPr lang="ko-KR" altLang="ko-KR" dirty="0"/>
              <a:t> </a:t>
            </a:r>
            <a:r>
              <a:rPr lang="ko-KR" altLang="ko-KR" dirty="0" err="1"/>
              <a:t>connection</a:t>
            </a:r>
            <a:r>
              <a:rPr lang="ko-KR" altLang="ko-KR" dirty="0"/>
              <a:t> 등에서 정밀도 손실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/>
              <a:t>PSNR/SSIM </a:t>
            </a:r>
            <a:r>
              <a:rPr lang="ko-KR" altLang="ko-KR" dirty="0" err="1"/>
              <a:t>계산값</a:t>
            </a:r>
            <a:r>
              <a:rPr lang="ko-KR" altLang="ko-KR" dirty="0"/>
              <a:t> 변동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 err="1"/>
              <a:t>NaN</a:t>
            </a:r>
            <a:r>
              <a:rPr lang="ko-KR" altLang="ko-KR" dirty="0"/>
              <a:t>/</a:t>
            </a:r>
            <a:r>
              <a:rPr lang="ko-KR" altLang="ko-KR" dirty="0" err="1"/>
              <a:t>Inf</a:t>
            </a:r>
            <a:r>
              <a:rPr lang="ko-KR" altLang="ko-KR" dirty="0"/>
              <a:t> 또는 </a:t>
            </a:r>
            <a:r>
              <a:rPr lang="ko-KR" altLang="ko-KR" dirty="0" err="1"/>
              <a:t>overflow</a:t>
            </a:r>
            <a:r>
              <a:rPr lang="ko-KR" altLang="ko-KR" dirty="0"/>
              <a:t> 발생 가능성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ko-KR" altLang="ko-KR" dirty="0"/>
          </a:p>
          <a:p>
            <a:r>
              <a:rPr lang="ko-KR" altLang="ko-KR" dirty="0"/>
              <a:t>반면 CUDA </a:t>
            </a:r>
            <a:r>
              <a:rPr lang="ko-KR" altLang="ko-KR" dirty="0" err="1"/>
              <a:t>autocast는</a:t>
            </a:r>
            <a:r>
              <a:rPr lang="ko-KR" altLang="ko-KR" dirty="0"/>
              <a:t> 연산별로 자동 판단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/>
              <a:t>FP16으로 계산해도 안전한 </a:t>
            </a:r>
            <a:r>
              <a:rPr lang="ko-KR" altLang="ko-KR" dirty="0" err="1"/>
              <a:t>convolution</a:t>
            </a:r>
            <a:r>
              <a:rPr lang="ko-KR" altLang="ko-KR" dirty="0"/>
              <a:t>, </a:t>
            </a:r>
            <a:r>
              <a:rPr lang="ko-KR" altLang="ko-KR" dirty="0" err="1"/>
              <a:t>matrix</a:t>
            </a:r>
            <a:r>
              <a:rPr lang="ko-KR" altLang="ko-KR" dirty="0"/>
              <a:t> </a:t>
            </a:r>
            <a:r>
              <a:rPr lang="ko-KR" altLang="ko-KR" dirty="0" err="1"/>
              <a:t>multiplication</a:t>
            </a:r>
            <a:r>
              <a:rPr lang="ko-KR" altLang="ko-KR" dirty="0"/>
              <a:t> 등은 FP16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/>
              <a:t>정밀도가 필요한 연산은 FP32 유지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/>
              <a:t>전체 모델을 무조건 FP16으로 바꾸지 않음</a:t>
            </a:r>
          </a:p>
          <a:p>
            <a:r>
              <a:rPr lang="ko-KR" altLang="ko-KR" dirty="0"/>
              <a:t>또한 DWT/</a:t>
            </a:r>
            <a:r>
              <a:rPr lang="ko-KR" altLang="ko-KR" dirty="0" err="1"/>
              <a:t>IDWT는</a:t>
            </a:r>
            <a:r>
              <a:rPr lang="ko-KR" altLang="ko-KR" dirty="0"/>
              <a:t> 입력 영상의 복원 품질에 직접 영향을 주므로 FP32로 유지했고,</a:t>
            </a:r>
            <a:endParaRPr lang="en-US" altLang="ko-KR" dirty="0"/>
          </a:p>
          <a:p>
            <a:r>
              <a:rPr lang="ko-KR" altLang="ko-KR" dirty="0"/>
              <a:t>PSNR/</a:t>
            </a:r>
            <a:r>
              <a:rPr lang="ko-KR" altLang="ko-KR" dirty="0" err="1"/>
              <a:t>SSIM은</a:t>
            </a:r>
            <a:r>
              <a:rPr lang="ko-KR" altLang="ko-KR" dirty="0"/>
              <a:t> 아주 작은 오차를 측정하는 지표이므로 공정한 비교를 위해 FP32로 계산한 것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0750EA-5CE6-44EB-B4C5-5BAF9176525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95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DC365-CD20-1175-C29D-7CBC98FF7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64F2B4-FE77-7196-2473-B9BB01867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2037F9-A5F6-AB0D-D1E7-2BDDCE2D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0FA051-7D3F-E8A3-FFEA-C27240E4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119093-FF88-6F5E-5576-B53E9947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00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A771A-77FA-DB53-E496-DA0890BC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AA66D9-D009-6AFC-F998-83202F53E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779A1A-99BA-7FE0-DBD3-54659B1D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D5FC9-8614-DBE1-E5D4-89CF4558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4963C-AFB8-3531-8D55-3ED2550A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901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FFA24-1E3F-C1FC-3708-536E1572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2C753-F8CC-4DCE-61BC-2BD61D5A6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7CFC3-E3FD-C971-8AC6-D24CB2C5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415CB8-FE78-B75F-747D-430CA2993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924B62-6466-F1C5-8AA2-4E26178F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25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B983B-C069-2D94-FD4F-F1095736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1B369-EB97-A4E1-8C9E-C11AD013E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9D77EB-7851-E25E-ACF4-F504107C0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CD241B-1681-06FF-3880-38A146B2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044BB5-89D4-E3A9-6D8A-62B9BA23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DF0201-34ED-0C72-8C5F-823C726E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84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1F97E-BF16-28E6-FD9F-5713D9DF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CF71A7-1365-762E-B4D8-999A4DA0E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AEDB30-255B-AC0B-F737-6A9423DFE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6D3D7F-2B88-1520-ACCC-953AC37FD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779C0D-A955-EB3C-C4A0-08C0C0B96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51EAF6-68CF-F569-5E9B-80818212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4D27F1-1992-15A6-0A8B-FB7D0609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B88A71-96F1-73A0-56B9-F59C801F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22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26B98-E675-1818-0254-0D98103B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A96B2A-8A4D-05C8-0E79-D14A340F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7D9B21-1278-8E45-41F4-8EA9329B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662F8F-A02D-7761-D5BC-C7CE6F27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8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0E198A-EEAC-C6BE-C3DE-7F165E80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C17DA1-F887-76A6-BA44-1A5DA960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C971C9-1943-59F5-632E-F78DF5A9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2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BA3A9-2012-73D3-DCAF-02CC033D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0B7665-EC39-DB19-569D-12F3A6788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B135DC-2D0A-E367-664D-A564B1CD1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252F22-F7BF-F46E-DB01-49184BA8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8B9862-3438-A896-0FA3-621999EB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0BAA17-A0C8-F124-0227-49AB8605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90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37713-204B-DDED-CE76-D9057DA4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6DA680-BFF6-CFC3-3560-DEEF7C00E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F1452E-84D0-76FB-63F5-BF4C68F8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97F3E-2FE6-CEBE-D8CC-1CFB4402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F443C9-D7F2-C515-6082-CBB1CD98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AD1805-16BB-AD27-0E02-CADEEE7EB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10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EC2F16-5021-9483-7C5E-FFB2D8D8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EF4934-8109-A762-12C2-E8660DE77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79496B-3E5C-D9E6-F0F2-CEFC996E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99683F-D4B5-4D2A-3475-93E0752C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693A8A-090C-9E1C-411E-0317E329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33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B0C9BF-59E4-3BE9-2F0E-05ED515933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5D4D2-867D-4C3F-5E34-B9B964A91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B4E44-4795-450B-D342-31F3865C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FAAF1A-248D-CBEC-882F-4221E699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8F5F97-6456-1E11-679A-9A4DEF1D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85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7C04CA-A232-8B4B-1F79-25E51A6A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10BE3F-4274-0329-49F6-E8851A488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FA3F9-1AC9-B840-197D-37B31E7B0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72576-5648-4E25-98BE-ADE0254B2F2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B206C-E907-0FDD-53B3-09FDAE85A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A0E7BA-BD15-9B4F-E5A6-ECB104619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ACCAB-3140-47C2-B438-32BA4EDC4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92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48A53-E4E6-436C-4B04-CA175977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2043545"/>
            <a:ext cx="11120582" cy="2770909"/>
          </a:xfrm>
        </p:spPr>
        <p:txBody>
          <a:bodyPr>
            <a:normAutofit/>
          </a:bodyPr>
          <a:lstStyle/>
          <a:p>
            <a:pPr algn="ctr"/>
            <a:r>
              <a:rPr lang="ko-KR" altLang="ko-KR" sz="3200" b="1" dirty="0"/>
              <a:t>DWT–MambaIRv2의 </a:t>
            </a:r>
            <a:r>
              <a:rPr lang="ko-KR" altLang="ko-KR" sz="3200" b="1" dirty="0" err="1"/>
              <a:t>Jetson</a:t>
            </a:r>
            <a:r>
              <a:rPr lang="ko-KR" altLang="ko-KR" sz="3200" b="1" dirty="0"/>
              <a:t> 이식과 FP32/FP16 성능 평가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4374CB-A5F8-D30E-A273-4AE54CBE273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500852" y="5521172"/>
            <a:ext cx="1691148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ko-KR" altLang="en-US" sz="2000" b="1" dirty="0"/>
              <a:t>양진석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MMSP LAB</a:t>
            </a:r>
          </a:p>
          <a:p>
            <a:pPr marL="0" indent="0">
              <a:buNone/>
            </a:pPr>
            <a:r>
              <a:rPr lang="en-US" altLang="ko-KR" sz="2000" b="1" dirty="0"/>
              <a:t>2026.07.27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AFF0581-17E8-2A68-141E-56D45E9F25E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F4DB6C6-FB0E-3EC2-1D68-2BE3DDE0A727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96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69DC1A21-EC38-417B-374D-1E7F1E771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818" y="998789"/>
            <a:ext cx="11166764" cy="5370945"/>
          </a:xfrm>
        </p:spPr>
        <p:txBody>
          <a:bodyPr anchor="ctr">
            <a:norm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ko-KR" altLang="ko-KR" sz="1600" dirty="0"/>
              <a:t>DWT–MambaIRv2 모델 구조</a:t>
            </a:r>
            <a:endParaRPr lang="en-US" altLang="ko-KR" sz="1600" dirty="0"/>
          </a:p>
          <a:p>
            <a:pPr marL="342900" indent="-342900" algn="l">
              <a:buFont typeface="+mj-lt"/>
              <a:buAutoNum type="arabicPeriod"/>
            </a:pPr>
            <a:r>
              <a:rPr lang="ko-KR" altLang="ko-KR" sz="1600" dirty="0"/>
              <a:t>GPU Server 실험 결과</a:t>
            </a:r>
            <a:endParaRPr lang="en-US" altLang="ko-KR" sz="1600" dirty="0"/>
          </a:p>
          <a:p>
            <a:pPr marL="342900" indent="-342900" algn="l">
              <a:buFont typeface="+mj-lt"/>
              <a:buAutoNum type="arabicPeriod"/>
            </a:pPr>
            <a:r>
              <a:rPr lang="ko-KR" altLang="ko-KR" sz="1600" dirty="0" err="1"/>
              <a:t>Jetson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Orin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Nano</a:t>
            </a:r>
            <a:r>
              <a:rPr lang="ko-KR" altLang="ko-KR" sz="1600" dirty="0"/>
              <a:t> 실행 환경 및 모델 이식</a:t>
            </a:r>
            <a:endParaRPr lang="en-US" altLang="ko-KR" sz="1600" dirty="0"/>
          </a:p>
          <a:p>
            <a:pPr marL="342900" indent="-342900" algn="l">
              <a:buFont typeface="+mj-lt"/>
              <a:buAutoNum type="arabicPeriod"/>
            </a:pPr>
            <a:r>
              <a:rPr lang="ko-KR" altLang="ko-KR" sz="1600" dirty="0"/>
              <a:t>GPU Server–</a:t>
            </a:r>
            <a:r>
              <a:rPr lang="ko-KR" altLang="ko-KR" sz="1600" dirty="0" err="1"/>
              <a:t>Jetson</a:t>
            </a:r>
            <a:r>
              <a:rPr lang="ko-KR" altLang="ko-KR" sz="1600" dirty="0"/>
              <a:t> 간 수치적 일관성 검증</a:t>
            </a:r>
            <a:endParaRPr lang="en-US" altLang="ko-KR" sz="1600" dirty="0"/>
          </a:p>
          <a:p>
            <a:pPr marL="342900" indent="-342900" algn="l">
              <a:buFont typeface="+mj-lt"/>
              <a:buAutoNum type="arabicPeriod"/>
            </a:pPr>
            <a:r>
              <a:rPr lang="ko-KR" altLang="ko-KR" sz="1600" dirty="0" err="1"/>
              <a:t>Jetson</a:t>
            </a:r>
            <a:r>
              <a:rPr lang="ko-KR" altLang="ko-KR" sz="1600" dirty="0"/>
              <a:t> FP32/FP16 추론 성능 비교</a:t>
            </a:r>
            <a:endParaRPr lang="en-US" altLang="ko-KR" sz="1600" dirty="0"/>
          </a:p>
          <a:p>
            <a:pPr marL="342900" indent="-342900" algn="l">
              <a:buFont typeface="+mj-lt"/>
              <a:buAutoNum type="arabicPeriod"/>
            </a:pPr>
            <a:r>
              <a:rPr lang="ko-KR" altLang="ko-KR" sz="1600" dirty="0" err="1"/>
              <a:t>Jetson</a:t>
            </a:r>
            <a:r>
              <a:rPr lang="ko-KR" altLang="ko-KR" sz="1600" dirty="0"/>
              <a:t> 자원 사용량 분석전력</a:t>
            </a:r>
          </a:p>
          <a:p>
            <a:pPr marL="342900" indent="-342900" algn="l">
              <a:buFont typeface="+mj-lt"/>
              <a:buAutoNum type="arabicPeriod" startAt="7"/>
            </a:pPr>
            <a:r>
              <a:rPr lang="en-US" altLang="ko-KR" sz="1600" dirty="0"/>
              <a:t>GPU server-Jetson </a:t>
            </a:r>
            <a:r>
              <a:rPr lang="ko-KR" altLang="en-US" sz="1600" dirty="0"/>
              <a:t>복원 </a:t>
            </a:r>
            <a:r>
              <a:rPr lang="ko-KR" altLang="en-US" sz="1600" b="1" dirty="0">
                <a:solidFill>
                  <a:schemeClr val="bg1"/>
                </a:solidFill>
              </a:rPr>
              <a:t>결과 비교</a:t>
            </a:r>
            <a:endParaRPr lang="en-US" altLang="ko-KR" sz="1600" dirty="0"/>
          </a:p>
          <a:p>
            <a:pPr marL="342900" indent="-342900" algn="l">
              <a:buFont typeface="+mj-lt"/>
              <a:buAutoNum type="arabicPeriod" startAt="7"/>
            </a:pPr>
            <a:r>
              <a:rPr lang="ko-KR" altLang="ko-KR" sz="1600" dirty="0"/>
              <a:t>결론 및 향후 계획</a:t>
            </a:r>
            <a:endParaRPr lang="ko-KR" altLang="en-US" sz="16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2E839AC3-717D-1ADD-131C-27DA2B241E5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A098429-A022-90B2-0CE7-B560B3F17B80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20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1B807-99F5-D981-3CA9-EECA30A4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7C4B6CB-104A-78E0-FC14-A1CF09DCC50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3200" b="1" dirty="0">
                <a:solidFill>
                  <a:schemeClr val="bg1"/>
                </a:solidFill>
              </a:rPr>
              <a:t>DWT–MambaIRv2 모델 구조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6C8016D-E729-5BFC-C7EF-3754DBA0CC42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0A41AF-C228-40A5-47E2-E458C4F9BD1E}"/>
              </a:ext>
            </a:extLst>
          </p:cNvPr>
          <p:cNvSpPr txBox="1"/>
          <p:nvPr/>
        </p:nvSpPr>
        <p:spPr>
          <a:xfrm>
            <a:off x="8741508" y="5170336"/>
            <a:ext cx="52050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Input</a:t>
            </a:r>
            <a:r>
              <a:rPr lang="ko-KR" altLang="ko-KR" dirty="0"/>
              <a:t> / </a:t>
            </a:r>
            <a:r>
              <a:rPr lang="ko-KR" altLang="ko-KR" dirty="0" err="1"/>
              <a:t>Output</a:t>
            </a:r>
            <a:r>
              <a:rPr lang="ko-KR" altLang="ko-KR" dirty="0"/>
              <a:t> </a:t>
            </a:r>
            <a:r>
              <a:rPr lang="ko-KR" altLang="ko-KR" dirty="0" err="1"/>
              <a:t>channels</a:t>
            </a:r>
            <a:r>
              <a:rPr lang="ko-KR" altLang="ko-KR" dirty="0"/>
              <a:t>: 4 / 4</a:t>
            </a:r>
            <a:endParaRPr lang="en-US" altLang="ko-KR" dirty="0"/>
          </a:p>
          <a:p>
            <a:r>
              <a:rPr lang="ko-KR" altLang="ko-KR" dirty="0" err="1"/>
              <a:t>Embed</a:t>
            </a:r>
            <a:r>
              <a:rPr lang="ko-KR" altLang="ko-KR" dirty="0"/>
              <a:t> </a:t>
            </a:r>
            <a:r>
              <a:rPr lang="ko-KR" altLang="ko-KR" dirty="0" err="1"/>
              <a:t>dimension</a:t>
            </a:r>
            <a:r>
              <a:rPr lang="ko-KR" altLang="ko-KR" dirty="0"/>
              <a:t>: 48</a:t>
            </a:r>
            <a:endParaRPr lang="en-US" altLang="ko-KR" dirty="0"/>
          </a:p>
          <a:p>
            <a:r>
              <a:rPr lang="ko-KR" altLang="ko-KR" dirty="0" err="1"/>
              <a:t>Depths</a:t>
            </a:r>
            <a:r>
              <a:rPr lang="ko-KR" altLang="ko-KR" dirty="0"/>
              <a:t>: [2, 2, 2, 2]</a:t>
            </a:r>
            <a:endParaRPr lang="en-US" altLang="ko-KR" dirty="0"/>
          </a:p>
          <a:p>
            <a:r>
              <a:rPr lang="ko-KR" altLang="ko-KR" dirty="0" err="1"/>
              <a:t>Attention</a:t>
            </a:r>
            <a:r>
              <a:rPr lang="ko-KR" altLang="ko-KR" dirty="0"/>
              <a:t> </a:t>
            </a:r>
            <a:r>
              <a:rPr lang="ko-KR" altLang="ko-KR" dirty="0" err="1"/>
              <a:t>heads</a:t>
            </a:r>
            <a:r>
              <a:rPr lang="ko-KR" altLang="ko-KR" dirty="0"/>
              <a:t>: [4, 4, 4, 4]</a:t>
            </a:r>
            <a:endParaRPr lang="en-US" altLang="ko-KR" dirty="0"/>
          </a:p>
          <a:p>
            <a:r>
              <a:rPr lang="ko-KR" altLang="ko-KR" dirty="0" err="1"/>
              <a:t>Trainable</a:t>
            </a:r>
            <a:r>
              <a:rPr lang="ko-KR" altLang="ko-KR" dirty="0"/>
              <a:t> </a:t>
            </a:r>
            <a:r>
              <a:rPr lang="ko-KR" altLang="ko-KR" dirty="0" err="1"/>
              <a:t>parameters</a:t>
            </a:r>
            <a:r>
              <a:rPr lang="ko-KR" altLang="ko-KR" dirty="0"/>
              <a:t>: 0.55M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F2FDB-39CA-EEC4-6B0C-00D4838B1D99}"/>
              </a:ext>
            </a:extLst>
          </p:cNvPr>
          <p:cNvSpPr txBox="1"/>
          <p:nvPr/>
        </p:nvSpPr>
        <p:spPr>
          <a:xfrm>
            <a:off x="875323" y="2103366"/>
            <a:ext cx="200855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LR Image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6B6D4-B9E3-1AAA-D117-1A7AD4788C55}"/>
              </a:ext>
            </a:extLst>
          </p:cNvPr>
          <p:cNvSpPr txBox="1"/>
          <p:nvPr/>
        </p:nvSpPr>
        <p:spPr>
          <a:xfrm>
            <a:off x="3684954" y="1964867"/>
            <a:ext cx="2008554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1-level Haar DWT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EE808-EB89-85CA-1E09-FBE42079BB8B}"/>
              </a:ext>
            </a:extLst>
          </p:cNvPr>
          <p:cNvSpPr txBox="1"/>
          <p:nvPr/>
        </p:nvSpPr>
        <p:spPr>
          <a:xfrm>
            <a:off x="6494585" y="1826368"/>
            <a:ext cx="2008554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[LL, LH, HL, HH]</a:t>
            </a:r>
          </a:p>
          <a:p>
            <a:pPr algn="ctr"/>
            <a:r>
              <a:rPr lang="en-US" altLang="ko-KR" b="1" dirty="0"/>
              <a:t>4-channel tensor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9D89E-4A6E-4617-09B3-FE0AE0A36FE5}"/>
              </a:ext>
            </a:extLst>
          </p:cNvPr>
          <p:cNvSpPr txBox="1"/>
          <p:nvPr/>
        </p:nvSpPr>
        <p:spPr>
          <a:xfrm>
            <a:off x="9304216" y="1964867"/>
            <a:ext cx="2008554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MambaIRv2-small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29AC8D-9378-8C97-0073-2690B32231DB}"/>
              </a:ext>
            </a:extLst>
          </p:cNvPr>
          <p:cNvSpPr txBox="1"/>
          <p:nvPr/>
        </p:nvSpPr>
        <p:spPr>
          <a:xfrm>
            <a:off x="9304216" y="3831506"/>
            <a:ext cx="2008554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4-channel restored tensor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BD9672-409B-9939-6246-1202BB809B2D}"/>
              </a:ext>
            </a:extLst>
          </p:cNvPr>
          <p:cNvSpPr txBox="1"/>
          <p:nvPr/>
        </p:nvSpPr>
        <p:spPr>
          <a:xfrm>
            <a:off x="6494585" y="3831506"/>
            <a:ext cx="2008554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Inverse Haar DWT</a:t>
            </a:r>
            <a:endParaRPr lang="ko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4FCC07-E49F-1292-D52E-84A97E51465B}"/>
              </a:ext>
            </a:extLst>
          </p:cNvPr>
          <p:cNvSpPr txBox="1"/>
          <p:nvPr/>
        </p:nvSpPr>
        <p:spPr>
          <a:xfrm>
            <a:off x="3684954" y="3970005"/>
            <a:ext cx="200855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Denoised Image</a:t>
            </a:r>
            <a:endParaRPr lang="ko-KR" altLang="en-US" b="1" dirty="0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506D28C7-5199-7F1C-F5ED-0F1EB4E9955B}"/>
              </a:ext>
            </a:extLst>
          </p:cNvPr>
          <p:cNvCxnSpPr>
            <a:cxnSpLocks/>
          </p:cNvCxnSpPr>
          <p:nvPr/>
        </p:nvCxnSpPr>
        <p:spPr>
          <a:xfrm>
            <a:off x="1758460" y="2917530"/>
            <a:ext cx="1414586" cy="726832"/>
          </a:xfrm>
          <a:prstGeom prst="bentConnector3">
            <a:avLst>
              <a:gd name="adj1" fmla="val 66104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A7F8C50-4C81-FE36-7397-A3F3E089BAAF}"/>
              </a:ext>
            </a:extLst>
          </p:cNvPr>
          <p:cNvSpPr txBox="1"/>
          <p:nvPr/>
        </p:nvSpPr>
        <p:spPr>
          <a:xfrm>
            <a:off x="2645508" y="46234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 err="1"/>
              <a:t>Wavelet</a:t>
            </a:r>
            <a:r>
              <a:rPr lang="ko-KR" altLang="ko-KR" b="1" dirty="0"/>
              <a:t> </a:t>
            </a:r>
            <a:r>
              <a:rPr lang="ko-KR" altLang="ko-KR" b="1" dirty="0" err="1"/>
              <a:t>domain에서</a:t>
            </a:r>
            <a:r>
              <a:rPr lang="ko-KR" altLang="ko-KR" b="1" dirty="0"/>
              <a:t> 노이즈를 제거한 </a:t>
            </a:r>
            <a:endParaRPr lang="en-US" altLang="ko-KR" b="1" dirty="0"/>
          </a:p>
          <a:p>
            <a:pPr algn="ctr">
              <a:buNone/>
            </a:pPr>
            <a:r>
              <a:rPr lang="ko-KR" altLang="ko-KR" b="1" dirty="0"/>
              <a:t>후 </a:t>
            </a:r>
            <a:r>
              <a:rPr lang="ko-KR" altLang="ko-KR" b="1" dirty="0" err="1"/>
              <a:t>spatial</a:t>
            </a:r>
            <a:r>
              <a:rPr lang="ko-KR" altLang="ko-KR" b="1" dirty="0"/>
              <a:t> </a:t>
            </a:r>
            <a:r>
              <a:rPr lang="ko-KR" altLang="ko-KR" b="1" dirty="0" err="1"/>
              <a:t>domain</a:t>
            </a:r>
            <a:r>
              <a:rPr lang="ko-KR" altLang="ko-KR" b="1" dirty="0"/>
              <a:t> 영상으로 복원</a:t>
            </a:r>
          </a:p>
        </p:txBody>
      </p:sp>
    </p:spTree>
    <p:extLst>
      <p:ext uri="{BB962C8B-B14F-4D97-AF65-F5344CB8AC3E}">
        <p14:creationId xmlns:p14="http://schemas.microsoft.com/office/powerpoint/2010/main" val="396006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6367-0ECA-197D-5060-C886E18B1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431A90F4-0A1B-97AA-85FB-E1DAFEB2E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818" y="998789"/>
            <a:ext cx="11166764" cy="338564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ko-KR" altLang="ko-KR" b="1" dirty="0"/>
              <a:t>실험 조건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ko-KR" b="1" dirty="0" err="1"/>
              <a:t>Dataset</a:t>
            </a:r>
            <a:r>
              <a:rPr lang="ko-KR" altLang="ko-KR" b="1" dirty="0"/>
              <a:t>: XAVIS </a:t>
            </a:r>
            <a:r>
              <a:rPr lang="ko-KR" altLang="ko-KR" b="1" dirty="0" err="1"/>
              <a:t>Cylinder</a:t>
            </a:r>
            <a:r>
              <a:rPr lang="ko-KR" altLang="ko-KR" b="1" dirty="0"/>
              <a:t> / </a:t>
            </a:r>
            <a:r>
              <a:rPr lang="ko-KR" altLang="ko-KR" b="1" dirty="0" err="1"/>
              <a:t>AL_Cu</a:t>
            </a:r>
            <a:endParaRPr lang="ko-KR" altLang="ko-KR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ko-KR" b="1" dirty="0" err="1"/>
              <a:t>Test</a:t>
            </a:r>
            <a:r>
              <a:rPr lang="ko-KR" altLang="ko-KR" b="1" dirty="0"/>
              <a:t> </a:t>
            </a:r>
            <a:r>
              <a:rPr lang="ko-KR" altLang="ko-KR" b="1" dirty="0" err="1"/>
              <a:t>images</a:t>
            </a:r>
            <a:r>
              <a:rPr lang="ko-KR" altLang="ko-KR" b="1" dirty="0"/>
              <a:t>: 600장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ko-KR" b="1" dirty="0" err="1"/>
              <a:t>Model</a:t>
            </a:r>
            <a:r>
              <a:rPr lang="ko-KR" altLang="ko-KR" b="1" dirty="0"/>
              <a:t>: DWT–MambaIRv2-small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ko-KR" b="1" dirty="0" err="1"/>
              <a:t>Parameters</a:t>
            </a:r>
            <a:r>
              <a:rPr lang="ko-KR" altLang="ko-KR" b="1" dirty="0"/>
              <a:t>: 0.553860M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ko-KR" b="1" dirty="0" err="1"/>
              <a:t>Execution</a:t>
            </a:r>
            <a:r>
              <a:rPr lang="ko-KR" altLang="ko-KR" b="1" dirty="0"/>
              <a:t>: CUDA </a:t>
            </a:r>
            <a:r>
              <a:rPr lang="ko-KR" altLang="ko-KR" b="1" dirty="0" err="1"/>
              <a:t>selective</a:t>
            </a:r>
            <a:r>
              <a:rPr lang="ko-KR" altLang="ko-KR" b="1" dirty="0"/>
              <a:t> </a:t>
            </a:r>
            <a:r>
              <a:rPr lang="ko-KR" altLang="ko-KR" b="1" dirty="0" err="1"/>
              <a:t>scan</a:t>
            </a:r>
            <a:endParaRPr lang="ko-KR" altLang="ko-KR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ko-KR" b="1" dirty="0" err="1"/>
              <a:t>Evaluation</a:t>
            </a:r>
            <a:r>
              <a:rPr lang="ko-KR" altLang="ko-KR" b="1" dirty="0"/>
              <a:t>: </a:t>
            </a:r>
            <a:r>
              <a:rPr lang="ko-KR" altLang="ko-KR" b="1" dirty="0" err="1"/>
              <a:t>Spatial-domain</a:t>
            </a:r>
            <a:r>
              <a:rPr lang="ko-KR" altLang="ko-KR" b="1" dirty="0"/>
              <a:t> PSNR / SSIM</a:t>
            </a:r>
            <a:endParaRPr lang="en-US" altLang="ko-KR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ko-KR" b="1" dirty="0" err="1"/>
              <a:t>Test</a:t>
            </a:r>
            <a:r>
              <a:rPr lang="ko-KR" altLang="ko-KR" b="1" dirty="0"/>
              <a:t> </a:t>
            </a:r>
            <a:r>
              <a:rPr lang="ko-KR" altLang="ko-KR" b="1" dirty="0" err="1"/>
              <a:t>split</a:t>
            </a:r>
            <a:r>
              <a:rPr lang="ko-KR" altLang="ko-KR" b="1" dirty="0"/>
              <a:t>: v2 (</a:t>
            </a:r>
            <a:r>
              <a:rPr lang="ko-KR" altLang="ko-KR" b="1" dirty="0" err="1"/>
              <a:t>legacy</a:t>
            </a:r>
            <a:r>
              <a:rPr lang="ko-KR" altLang="ko-KR" b="1" dirty="0"/>
              <a:t> v5), 600 </a:t>
            </a:r>
            <a:r>
              <a:rPr lang="ko-KR" altLang="ko-KR" b="1" dirty="0" err="1"/>
              <a:t>images</a:t>
            </a:r>
            <a:r>
              <a:rPr lang="ko-KR" altLang="ko-KR" b="1" dirty="0"/>
              <a:t>, </a:t>
            </a:r>
            <a:r>
              <a:rPr lang="ko-KR" altLang="ko-KR" b="1" dirty="0" err="1"/>
              <a:t>seed</a:t>
            </a:r>
            <a:r>
              <a:rPr lang="ko-KR" altLang="ko-KR" b="1" dirty="0"/>
              <a:t> 42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0F2C24FC-79C0-AC7F-AF6A-9B00580592D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3200" b="1" dirty="0">
                <a:solidFill>
                  <a:schemeClr val="bg1"/>
                </a:solidFill>
              </a:rPr>
              <a:t>GPU Server 실험 결과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ED5302E-F3D9-E47C-6F9D-1288700E2DAC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046DBDF-D90D-2608-B450-C9F0C62CF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780369"/>
              </p:ext>
            </p:extLst>
          </p:nvPr>
        </p:nvGraphicFramePr>
        <p:xfrm>
          <a:off x="7570552" y="4715382"/>
          <a:ext cx="3683602" cy="1219200"/>
        </p:xfrm>
        <a:graphic>
          <a:graphicData uri="http://schemas.openxmlformats.org/drawingml/2006/table">
            <a:tbl>
              <a:tblPr/>
              <a:tblGrid>
                <a:gridCol w="1841801">
                  <a:extLst>
                    <a:ext uri="{9D8B030D-6E8A-4147-A177-3AD203B41FA5}">
                      <a16:colId xmlns:a16="http://schemas.microsoft.com/office/drawing/2014/main" val="2235983736"/>
                    </a:ext>
                  </a:extLst>
                </a:gridCol>
                <a:gridCol w="1841801">
                  <a:extLst>
                    <a:ext uri="{9D8B030D-6E8A-4147-A177-3AD203B41FA5}">
                      <a16:colId xmlns:a16="http://schemas.microsoft.com/office/drawing/2014/main" val="874604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dirty="0"/>
                        <a:t>GPU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52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/>
                        <a:t>GPU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/>
                        <a:t>NVIDIA RTX 3090 ×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00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/>
                        <a:t>실행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/>
                        <a:t>CUDA selective scan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487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dirty="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/>
                        <a:t>FP32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38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/>
                        <a:t>Test 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dirty="0"/>
                        <a:t>600 </a:t>
                      </a:r>
                      <a:r>
                        <a:rPr lang="ko-KR" sz="1000" dirty="0" err="1"/>
                        <a:t>images</a:t>
                      </a:r>
                      <a:endParaRPr 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41364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431B5F4-0301-3CB4-0250-93679E591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98787"/>
              </p:ext>
            </p:extLst>
          </p:nvPr>
        </p:nvGraphicFramePr>
        <p:xfrm>
          <a:off x="363041" y="4715382"/>
          <a:ext cx="6531708" cy="1097280"/>
        </p:xfrm>
        <a:graphic>
          <a:graphicData uri="http://schemas.openxmlformats.org/drawingml/2006/table">
            <a:tbl>
              <a:tblPr/>
              <a:tblGrid>
                <a:gridCol w="2177236">
                  <a:extLst>
                    <a:ext uri="{9D8B030D-6E8A-4147-A177-3AD203B41FA5}">
                      <a16:colId xmlns:a16="http://schemas.microsoft.com/office/drawing/2014/main" val="41466922"/>
                    </a:ext>
                  </a:extLst>
                </a:gridCol>
                <a:gridCol w="2177236">
                  <a:extLst>
                    <a:ext uri="{9D8B030D-6E8A-4147-A177-3AD203B41FA5}">
                      <a16:colId xmlns:a16="http://schemas.microsoft.com/office/drawing/2014/main" val="3347476049"/>
                    </a:ext>
                  </a:extLst>
                </a:gridCol>
                <a:gridCol w="2177236">
                  <a:extLst>
                    <a:ext uri="{9D8B030D-6E8A-4147-A177-3AD203B41FA5}">
                      <a16:colId xmlns:a16="http://schemas.microsoft.com/office/drawing/2014/main" val="3557584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/>
                        <a:t>LR </a:t>
                      </a:r>
                      <a:r>
                        <a:rPr lang="ko-KR" b="0" dirty="0" err="1"/>
                        <a:t>Input</a:t>
                      </a:r>
                      <a:endParaRPr lang="ko-KR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/>
                        <a:t>MambaIRv2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055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/>
                        <a:t>PSNR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/>
                        <a:t>36.6085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/>
                        <a:t>39.2608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5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/>
                        <a:t>SSIM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/>
                        <a:t>0.946912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0" dirty="0"/>
                        <a:t>0.982429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258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96E9CF1-8B56-2596-65C2-8B32D5F9D13F}"/>
              </a:ext>
            </a:extLst>
          </p:cNvPr>
          <p:cNvSpPr txBox="1"/>
          <p:nvPr/>
        </p:nvSpPr>
        <p:spPr>
          <a:xfrm>
            <a:off x="7313922" y="6019567"/>
            <a:ext cx="4196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표</a:t>
            </a:r>
            <a:r>
              <a:rPr lang="en-US" altLang="ko-KR" sz="1200" dirty="0"/>
              <a:t> 1. GPU server hardware spec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5801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FDF85-8DF8-B428-4311-97104651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ECABE1F-B073-3E97-0771-A999D89F098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3200" b="1" dirty="0" err="1">
                <a:solidFill>
                  <a:schemeClr val="bg1"/>
                </a:solidFill>
              </a:rPr>
              <a:t>Jetson</a:t>
            </a:r>
            <a:r>
              <a:rPr lang="ko-KR" altLang="ko-KR" sz="3200" b="1" dirty="0">
                <a:solidFill>
                  <a:schemeClr val="bg1"/>
                </a:solidFill>
              </a:rPr>
              <a:t> </a:t>
            </a:r>
            <a:r>
              <a:rPr lang="ko-KR" altLang="ko-KR" sz="3200" b="1" dirty="0" err="1">
                <a:solidFill>
                  <a:schemeClr val="bg1"/>
                </a:solidFill>
              </a:rPr>
              <a:t>Orin</a:t>
            </a:r>
            <a:r>
              <a:rPr lang="ko-KR" altLang="ko-KR" sz="3200" b="1" dirty="0">
                <a:solidFill>
                  <a:schemeClr val="bg1"/>
                </a:solidFill>
              </a:rPr>
              <a:t> </a:t>
            </a:r>
            <a:r>
              <a:rPr lang="ko-KR" altLang="ko-KR" sz="3200" b="1" dirty="0" err="1">
                <a:solidFill>
                  <a:schemeClr val="bg1"/>
                </a:solidFill>
              </a:rPr>
              <a:t>Nano</a:t>
            </a:r>
            <a:r>
              <a:rPr lang="ko-KR" altLang="ko-KR" sz="3200" b="1" dirty="0">
                <a:solidFill>
                  <a:schemeClr val="bg1"/>
                </a:solidFill>
              </a:rPr>
              <a:t> 실행 환경 및 모델 이식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3903D67-E48B-0054-D290-60A0444D268B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FFD75-B44D-8EA0-EDB0-9DCA34BE8DAE}"/>
              </a:ext>
            </a:extLst>
          </p:cNvPr>
          <p:cNvSpPr txBox="1"/>
          <p:nvPr/>
        </p:nvSpPr>
        <p:spPr>
          <a:xfrm>
            <a:off x="2328354" y="926942"/>
            <a:ext cx="609600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MambaIRv2 모델 및 </a:t>
            </a:r>
            <a:r>
              <a:rPr lang="ko-KR" altLang="en-US" dirty="0" err="1"/>
              <a:t>checkpoint</a:t>
            </a:r>
            <a:r>
              <a:rPr lang="ko-KR" altLang="en-US" dirty="0"/>
              <a:t> 구성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 err="1"/>
              <a:t>mamba-ssm</a:t>
            </a:r>
            <a:r>
              <a:rPr lang="ko-KR" altLang="en-US" dirty="0"/>
              <a:t> </a:t>
            </a:r>
            <a:r>
              <a:rPr lang="ko-KR" altLang="en-US" dirty="0" err="1"/>
              <a:t>source</a:t>
            </a:r>
            <a:r>
              <a:rPr lang="ko-KR" altLang="en-US" dirty="0"/>
              <a:t> 수정</a:t>
            </a:r>
          </a:p>
          <a:p>
            <a:pPr algn="ctr"/>
            <a:r>
              <a:rPr lang="ko-KR" altLang="en-US" dirty="0"/>
              <a:t>(</a:t>
            </a:r>
            <a:r>
              <a:rPr lang="ko-KR" altLang="en-US" dirty="0" err="1"/>
              <a:t>Triton</a:t>
            </a:r>
            <a:r>
              <a:rPr lang="ko-KR" altLang="en-US" dirty="0"/>
              <a:t> </a:t>
            </a:r>
            <a:r>
              <a:rPr lang="ko-KR" altLang="en-US" dirty="0" err="1"/>
              <a:t>eager</a:t>
            </a:r>
            <a:r>
              <a:rPr lang="ko-KR" altLang="en-US" dirty="0"/>
              <a:t> </a:t>
            </a:r>
            <a:r>
              <a:rPr lang="ko-KR" altLang="en-US" dirty="0" err="1"/>
              <a:t>import</a:t>
            </a:r>
            <a:r>
              <a:rPr lang="ko-KR" altLang="en-US" dirty="0"/>
              <a:t> 회피)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 err="1"/>
              <a:t>Selective</a:t>
            </a:r>
            <a:r>
              <a:rPr lang="ko-KR" altLang="en-US" dirty="0"/>
              <a:t> </a:t>
            </a:r>
            <a:r>
              <a:rPr lang="ko-KR" altLang="en-US" dirty="0" err="1"/>
              <a:t>Scan</a:t>
            </a:r>
            <a:r>
              <a:rPr lang="ko-KR" altLang="en-US" dirty="0"/>
              <a:t> CUDA </a:t>
            </a:r>
            <a:r>
              <a:rPr lang="ko-KR" altLang="en-US" dirty="0" err="1"/>
              <a:t>Extension</a:t>
            </a:r>
            <a:r>
              <a:rPr lang="ko-KR" altLang="en-US" dirty="0"/>
              <a:t> 빌드</a:t>
            </a:r>
          </a:p>
          <a:p>
            <a:pPr algn="ctr"/>
            <a:r>
              <a:rPr lang="ko-KR" altLang="en-US" dirty="0"/>
              <a:t>(TORCH_CUDA_ARCH_LIST=8.7)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/>
              <a:t>FP32 </a:t>
            </a:r>
            <a:r>
              <a:rPr lang="ko-KR" altLang="en-US" dirty="0" err="1"/>
              <a:t>Smoke</a:t>
            </a:r>
            <a:r>
              <a:rPr lang="ko-KR" altLang="en-US" dirty="0"/>
              <a:t> </a:t>
            </a:r>
            <a:r>
              <a:rPr lang="ko-KR" altLang="en-US" dirty="0" err="1"/>
              <a:t>Test</a:t>
            </a:r>
            <a:endParaRPr lang="ko-KR" altLang="en-US" dirty="0"/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/>
              <a:t>FP32/FP16 </a:t>
            </a:r>
            <a:r>
              <a:rPr lang="ko-KR" altLang="en-US" dirty="0" err="1"/>
              <a:t>Profiling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194C871-4038-025A-F757-8F621EE44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553882"/>
              </p:ext>
            </p:extLst>
          </p:nvPr>
        </p:nvGraphicFramePr>
        <p:xfrm>
          <a:off x="2052625" y="4182500"/>
          <a:ext cx="6647458" cy="2468880"/>
        </p:xfrm>
        <a:graphic>
          <a:graphicData uri="http://schemas.openxmlformats.org/drawingml/2006/table">
            <a:tbl>
              <a:tblPr/>
              <a:tblGrid>
                <a:gridCol w="3323729">
                  <a:extLst>
                    <a:ext uri="{9D8B030D-6E8A-4147-A177-3AD203B41FA5}">
                      <a16:colId xmlns:a16="http://schemas.microsoft.com/office/drawing/2014/main" val="2055744793"/>
                    </a:ext>
                  </a:extLst>
                </a:gridCol>
                <a:gridCol w="3323729">
                  <a:extLst>
                    <a:ext uri="{9D8B030D-6E8A-4147-A177-3AD203B41FA5}">
                      <a16:colId xmlns:a16="http://schemas.microsoft.com/office/drawing/2014/main" val="425253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27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Jetson Orin Nano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901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OS / L4T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R36.5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438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aarch64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531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3.10.12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314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PyTorch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2.5.0a0+872d972e41.nv24.08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72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CUDA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12.6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57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Compute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8.7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171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GPU </a:t>
                      </a:r>
                      <a:r>
                        <a:rPr lang="ko-KR" sz="1200" dirty="0" err="1"/>
                        <a:t>Memory</a:t>
                      </a:r>
                      <a:endParaRPr 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약 7.43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05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83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23788-07E9-54C5-3FAC-714ACB43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D55A6D5-6025-ADC5-064A-6A9BAD9D207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3200" b="1" dirty="0">
                <a:solidFill>
                  <a:schemeClr val="bg1"/>
                </a:solidFill>
              </a:rPr>
              <a:t>GPU Server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ko-KR" sz="3200" b="1" dirty="0">
                <a:solidFill>
                  <a:schemeClr val="bg1"/>
                </a:solidFill>
              </a:rPr>
              <a:t>–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ko-KR" sz="3200" b="1" dirty="0" err="1">
                <a:solidFill>
                  <a:schemeClr val="bg1"/>
                </a:solidFill>
              </a:rPr>
              <a:t>Jetson</a:t>
            </a:r>
            <a:r>
              <a:rPr lang="ko-KR" altLang="ko-KR" sz="3200" b="1" dirty="0">
                <a:solidFill>
                  <a:schemeClr val="bg1"/>
                </a:solidFill>
              </a:rPr>
              <a:t> 간 수치적 일관성 검증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F4D83CE-D411-7261-727C-E4465860AE59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16084B6-685F-4039-6457-B99EE1896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92539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353375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578626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06331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92090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Metric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GPU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Jetson Orin Nano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736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Mean PSNR</a:t>
                      </a:r>
                      <a:r>
                        <a:rPr lang="en-US" altLang="ko-KR"/>
                        <a:t> (dB)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39.257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39.2</a:t>
                      </a:r>
                      <a:r>
                        <a:rPr lang="en-US" altLang="ko-KR" dirty="0"/>
                        <a:t>60</a:t>
                      </a:r>
                      <a:r>
                        <a:rPr lang="ko-KR" dirty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dirty="0"/>
                        <a:t>+0.00222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411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Mean SSIM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0.982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0.982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dirty="0"/>
                        <a:t>−0.0000051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94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PSNR Std.</a:t>
                      </a:r>
                      <a:r>
                        <a:rPr lang="en-US" altLang="ko-KR"/>
                        <a:t> (dB)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3.641 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3.642 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dirty="0"/>
                        <a:t>+0.0007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751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SSIM Std.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0.01</a:t>
                      </a:r>
                      <a:r>
                        <a:rPr lang="en-US" altLang="ko-KR"/>
                        <a:t>1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0.01</a:t>
                      </a:r>
                      <a:r>
                        <a:rPr lang="en-US" altLang="ko-KR"/>
                        <a:t>1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dirty="0"/>
                        <a:t>+0.0000016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6469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D7C9B7-32A6-FD7C-F203-5BCFC8581DC2}"/>
              </a:ext>
            </a:extLst>
          </p:cNvPr>
          <p:cNvSpPr txBox="1"/>
          <p:nvPr/>
        </p:nvSpPr>
        <p:spPr>
          <a:xfrm>
            <a:off x="3048000" y="55930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GPU server</a:t>
            </a:r>
            <a:r>
              <a:rPr lang="ko-KR" altLang="en-US" b="1" dirty="0"/>
              <a:t>와 </a:t>
            </a:r>
            <a:r>
              <a:rPr lang="en-US" altLang="ko-KR" b="1" dirty="0"/>
              <a:t>Jetson Orin Nano</a:t>
            </a:r>
            <a:r>
              <a:rPr lang="ko-KR" altLang="en-US" b="1" dirty="0"/>
              <a:t>에서의 </a:t>
            </a:r>
            <a:r>
              <a:rPr lang="en-US" altLang="ko-KR" b="1" dirty="0"/>
              <a:t>test </a:t>
            </a:r>
            <a:r>
              <a:rPr lang="ko-KR" altLang="en-US" b="1" dirty="0"/>
              <a:t>결과 거의 동일한 </a:t>
            </a:r>
            <a:r>
              <a:rPr lang="en-US" altLang="ko-KR" b="1" dirty="0"/>
              <a:t>PSNR</a:t>
            </a:r>
            <a:r>
              <a:rPr lang="ko-KR" altLang="en-US" b="1" dirty="0"/>
              <a:t>과 </a:t>
            </a:r>
            <a:r>
              <a:rPr lang="en-US" altLang="ko-KR" b="1" dirty="0"/>
              <a:t>SSIM </a:t>
            </a:r>
            <a:r>
              <a:rPr lang="ko-KR" altLang="en-US" b="1" dirty="0"/>
              <a:t>평균을 보여줌</a:t>
            </a:r>
            <a:r>
              <a:rPr lang="en-US" altLang="ko-KR" b="1" dirty="0"/>
              <a:t>.</a:t>
            </a:r>
            <a:endParaRPr lang="ko-KR" altLang="ko-KR" b="1" dirty="0"/>
          </a:p>
        </p:txBody>
      </p:sp>
    </p:spTree>
    <p:extLst>
      <p:ext uri="{BB962C8B-B14F-4D97-AF65-F5344CB8AC3E}">
        <p14:creationId xmlns:p14="http://schemas.microsoft.com/office/powerpoint/2010/main" val="406636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FAB25-F9E8-0337-AA79-815AB0A9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48FAB35-92EE-6E17-7BE2-428C3BF09A2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3200" b="1" dirty="0" err="1">
                <a:solidFill>
                  <a:schemeClr val="bg1"/>
                </a:solidFill>
              </a:rPr>
              <a:t>Jetson</a:t>
            </a:r>
            <a:r>
              <a:rPr lang="ko-KR" altLang="ko-KR" sz="3200" b="1" dirty="0">
                <a:solidFill>
                  <a:schemeClr val="bg1"/>
                </a:solidFill>
              </a:rPr>
              <a:t> FP32/FP16 추론 성능 비교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0BF0673-546E-1449-98B3-30DD2BCE2EDC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1836526-3C32-16AE-EB95-FA41F68E4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705161"/>
              </p:ext>
            </p:extLst>
          </p:nvPr>
        </p:nvGraphicFramePr>
        <p:xfrm>
          <a:off x="838200" y="1809860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852405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313697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8873629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966246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 err="1"/>
                        <a:t>Metric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FP32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FP16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383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 err="1"/>
                        <a:t>Mean</a:t>
                      </a:r>
                      <a:r>
                        <a:rPr lang="ko-KR" dirty="0"/>
                        <a:t> PSNR (</a:t>
                      </a:r>
                      <a:r>
                        <a:rPr lang="ko-KR" dirty="0" err="1"/>
                        <a:t>dB</a:t>
                      </a:r>
                      <a:r>
                        <a:rPr lang="ko-K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39.260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39.260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+0.00023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076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 err="1"/>
                        <a:t>Mean</a:t>
                      </a:r>
                      <a:r>
                        <a:rPr lang="ko-KR" dirty="0"/>
                        <a:t> SSIM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0.982423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0.982422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−0.000001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239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 err="1"/>
                        <a:t>Latency</a:t>
                      </a:r>
                      <a:r>
                        <a:rPr lang="ko-KR" dirty="0"/>
                        <a:t> (</a:t>
                      </a:r>
                      <a:r>
                        <a:rPr lang="ko-KR" dirty="0" err="1"/>
                        <a:t>ms</a:t>
                      </a:r>
                      <a:r>
                        <a:rPr lang="ko-KR" dirty="0"/>
                        <a:t>/</a:t>
                      </a:r>
                      <a:r>
                        <a:rPr lang="ko-KR" dirty="0" err="1"/>
                        <a:t>image</a:t>
                      </a:r>
                      <a:r>
                        <a:rPr lang="ko-K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1419.769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1197.643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b="1"/>
                        <a:t>−15.65%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723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Total time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851.862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718.586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−133.276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953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/>
                        <a:t>Speedup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1.000×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b="1"/>
                        <a:t>1.186×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ko-KR" dirty="0"/>
                        <a:t>+18.55%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0650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3853845-2EF6-1A4E-47C8-B12F0C7F5AF1}"/>
              </a:ext>
            </a:extLst>
          </p:cNvPr>
          <p:cNvSpPr txBox="1"/>
          <p:nvPr/>
        </p:nvSpPr>
        <p:spPr>
          <a:xfrm>
            <a:off x="2098431" y="4493287"/>
            <a:ext cx="7995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FP16은 </a:t>
            </a:r>
            <a:r>
              <a:rPr lang="ko-KR" altLang="ko-KR" dirty="0" err="1"/>
              <a:t>model.half</a:t>
            </a:r>
            <a:r>
              <a:rPr lang="ko-KR" altLang="ko-KR" dirty="0"/>
              <a:t>()가 아닌 CUDA </a:t>
            </a:r>
            <a:r>
              <a:rPr lang="ko-KR" altLang="ko-KR" dirty="0" err="1"/>
              <a:t>autocast</a:t>
            </a:r>
            <a:r>
              <a:rPr lang="ko-KR" altLang="ko-KR" dirty="0"/>
              <a:t> 방식으로 적용했으며, DWT/</a:t>
            </a:r>
            <a:r>
              <a:rPr lang="ko-KR" altLang="ko-KR" dirty="0" err="1"/>
              <a:t>IDWT와</a:t>
            </a:r>
            <a:r>
              <a:rPr lang="ko-KR" altLang="ko-KR" dirty="0"/>
              <a:t> PSNR·SSIM 계산은 FP32로 유지했다.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269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452B-0385-B737-9475-01152A91B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D159341-2DCC-9EAB-AD3D-F8CA6C64CFA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3200" b="1" dirty="0" err="1">
                <a:solidFill>
                  <a:schemeClr val="bg1"/>
                </a:solidFill>
              </a:rPr>
              <a:t>Jetson</a:t>
            </a:r>
            <a:r>
              <a:rPr lang="ko-KR" altLang="ko-KR" sz="3200" b="1" dirty="0">
                <a:solidFill>
                  <a:schemeClr val="bg1"/>
                </a:solidFill>
              </a:rPr>
              <a:t> 자원 사용량 분석전력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80BAF7B-4CB8-FBED-433F-B870C93B18C3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5288759-7C6A-40E0-F555-4E80AF63F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904666"/>
              </p:ext>
            </p:extLst>
          </p:nvPr>
        </p:nvGraphicFramePr>
        <p:xfrm>
          <a:off x="838200" y="2148840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026421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640303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986539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29132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FP32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FP16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750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Avg. GPU utilization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87.34%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87.62%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+0.28%p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077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Max GPU utilization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99%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+1%p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302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Avg.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15.24 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15.43 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+0.19 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511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Max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16.98 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17.97 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+0.99 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51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Avg. GPU 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58.75°C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57.27°C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−1.48°C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334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Max GPU 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61.03°C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59.97°C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/>
                        <a:t>−1.06°C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26019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9F1AC54-9E06-76EF-AE29-3A98FABD1E4B}"/>
              </a:ext>
            </a:extLst>
          </p:cNvPr>
          <p:cNvSpPr txBox="1"/>
          <p:nvPr/>
        </p:nvSpPr>
        <p:spPr>
          <a:xfrm>
            <a:off x="3048000" y="508162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FP16은 FP32와 유사한 GPU </a:t>
            </a:r>
            <a:r>
              <a:rPr lang="ko-KR" altLang="ko-KR" dirty="0" err="1"/>
              <a:t>utilization을</a:t>
            </a:r>
            <a:r>
              <a:rPr lang="ko-KR" altLang="ko-KR" dirty="0"/>
              <a:t> 유지하면서 평균 전력은 소폭 증가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GPU 온도는 더 낮게 측정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tegrastats에</a:t>
            </a:r>
            <a:r>
              <a:rPr lang="ko-KR" altLang="ko-KR" dirty="0"/>
              <a:t> </a:t>
            </a:r>
            <a:r>
              <a:rPr lang="ko-KR" altLang="ko-KR" dirty="0" err="1"/>
              <a:t>throttle</a:t>
            </a:r>
            <a:r>
              <a:rPr lang="ko-KR" altLang="ko-KR" dirty="0"/>
              <a:t> 상태 자체는 기록되지 않았으며, 측정 구간에서 </a:t>
            </a:r>
            <a:r>
              <a:rPr lang="ko-KR" altLang="ko-KR" dirty="0" err="1"/>
              <a:t>throttling</a:t>
            </a:r>
            <a:r>
              <a:rPr lang="ko-KR" altLang="ko-KR" dirty="0"/>
              <a:t> 징후는 확인되지 않음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F17D7-502B-786D-D2E9-820554488DFC}"/>
              </a:ext>
            </a:extLst>
          </p:cNvPr>
          <p:cNvSpPr txBox="1"/>
          <p:nvPr/>
        </p:nvSpPr>
        <p:spPr>
          <a:xfrm>
            <a:off x="3872523" y="1353418"/>
            <a:ext cx="444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b="1" dirty="0"/>
              <a:t>전력 · GPU 활용률 · 온도</a:t>
            </a:r>
          </a:p>
        </p:txBody>
      </p:sp>
    </p:spTree>
    <p:extLst>
      <p:ext uri="{BB962C8B-B14F-4D97-AF65-F5344CB8AC3E}">
        <p14:creationId xmlns:p14="http://schemas.microsoft.com/office/powerpoint/2010/main" val="1796386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B4FA-70EA-E186-4115-8CEF9B31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A313AE-CF6A-3592-B33E-6BA3C8F3F5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>
                <a:solidFill>
                  <a:schemeClr val="bg1"/>
                </a:solidFill>
              </a:rPr>
              <a:t>GPU server-Jetson </a:t>
            </a:r>
            <a:r>
              <a:rPr lang="ko-KR" altLang="en-US" sz="3200" b="1" dirty="0">
                <a:solidFill>
                  <a:schemeClr val="bg1"/>
                </a:solidFill>
              </a:rPr>
              <a:t>복원 결과 비교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F1FD734-BA58-399D-7A82-28F02C673477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pic>
        <p:nvPicPr>
          <p:cNvPr id="10" name="그림 9" descr="The image is a black and white photograph of a clear glass or plastic surface, possibly a screen or monitor, with a sharp, defined edge.&#10;&#10;AI 생성 콘텐츠는 정확하지 않을 수 있습니다.">
            <a:extLst>
              <a:ext uri="{FF2B5EF4-FFF2-40B4-BE49-F238E27FC236}">
                <a16:creationId xmlns:a16="http://schemas.microsoft.com/office/drawing/2014/main" id="{88A561FA-AED3-78EA-0CBD-1B461C63F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1416750"/>
            <a:ext cx="9134475" cy="243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38C78C-A029-3ACD-B7A3-E650A9E7486A}"/>
              </a:ext>
            </a:extLst>
          </p:cNvPr>
          <p:cNvSpPr txBox="1"/>
          <p:nvPr/>
        </p:nvSpPr>
        <p:spPr>
          <a:xfrm>
            <a:off x="3047998" y="14167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 err="1">
                <a:solidFill>
                  <a:schemeClr val="bg1"/>
                </a:solidFill>
              </a:rPr>
              <a:t>cylinder_AL_Cu</a:t>
            </a:r>
            <a:r>
              <a:rPr lang="ko-KR" altLang="ko-KR" b="1" dirty="0">
                <a:solidFill>
                  <a:schemeClr val="bg1"/>
                </a:solidFill>
              </a:rPr>
              <a:t>_</a:t>
            </a:r>
            <a:r>
              <a:rPr lang="en-US" altLang="ko-KR" b="1" dirty="0">
                <a:solidFill>
                  <a:schemeClr val="bg1"/>
                </a:solidFill>
              </a:rPr>
              <a:t>H</a:t>
            </a:r>
            <a:r>
              <a:rPr lang="ko-KR" altLang="ko-KR" b="1" dirty="0">
                <a:solidFill>
                  <a:schemeClr val="bg1"/>
                </a:solidFill>
              </a:rPr>
              <a:t>r_27108.tif</a:t>
            </a:r>
          </a:p>
        </p:txBody>
      </p:sp>
      <p:pic>
        <p:nvPicPr>
          <p:cNvPr id="16" name="그림 15" descr="The image depicts a monochromatic pattern, likely a scan or digital image, showing a dark background with a single white line or band.&#10;&#10;AI 생성 콘텐츠는 정확하지 않을 수 있습니다.">
            <a:extLst>
              <a:ext uri="{FF2B5EF4-FFF2-40B4-BE49-F238E27FC236}">
                <a16:creationId xmlns:a16="http://schemas.microsoft.com/office/drawing/2014/main" id="{2AB34EEB-C132-5920-59BB-E5F55FE03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3855150"/>
            <a:ext cx="9134475" cy="2438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901693-EF92-4951-B43F-DD9C98ADB9B2}"/>
              </a:ext>
            </a:extLst>
          </p:cNvPr>
          <p:cNvSpPr txBox="1"/>
          <p:nvPr/>
        </p:nvSpPr>
        <p:spPr>
          <a:xfrm>
            <a:off x="3047998" y="38551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>
                <a:solidFill>
                  <a:schemeClr val="bg1"/>
                </a:solidFill>
              </a:rPr>
              <a:t>cylinder_AL_Cu_lr_27108.tif</a:t>
            </a:r>
          </a:p>
        </p:txBody>
      </p:sp>
    </p:spTree>
    <p:extLst>
      <p:ext uri="{BB962C8B-B14F-4D97-AF65-F5344CB8AC3E}">
        <p14:creationId xmlns:p14="http://schemas.microsoft.com/office/powerpoint/2010/main" val="356568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136F-781F-5070-84D0-4F14C118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54D002C-C106-366D-75F8-30C35E6286E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>
                <a:solidFill>
                  <a:schemeClr val="bg1"/>
                </a:solidFill>
              </a:rPr>
              <a:t>GPU server-Jetson </a:t>
            </a:r>
            <a:r>
              <a:rPr lang="ko-KR" altLang="en-US" sz="3200" b="1" dirty="0">
                <a:solidFill>
                  <a:schemeClr val="bg1"/>
                </a:solidFill>
              </a:rPr>
              <a:t>복원 결과 비교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D9DC832-0EA6-665D-DD69-1399192CF85F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pic>
        <p:nvPicPr>
          <p:cNvPr id="3" name="그림 2" descr="The image appears to be a black and white photograph or digital image with a striped or patterned texture, but without further context, it's difficult to determine the content or subject matter.&#10;&#10;AI 생성 콘텐츠는 정확하지 않을 수 있습니다.">
            <a:extLst>
              <a:ext uri="{FF2B5EF4-FFF2-40B4-BE49-F238E27FC236}">
                <a16:creationId xmlns:a16="http://schemas.microsoft.com/office/drawing/2014/main" id="{66019AC7-FC0F-04FF-122F-3C01FBFE5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1407391"/>
            <a:ext cx="9134475" cy="2438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A202D-A367-BD56-7491-C1AB27B9C91D}"/>
              </a:ext>
            </a:extLst>
          </p:cNvPr>
          <p:cNvSpPr txBox="1"/>
          <p:nvPr/>
        </p:nvSpPr>
        <p:spPr>
          <a:xfrm>
            <a:off x="3047998" y="14073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gpu_server_fp32_representative.tif</a:t>
            </a:r>
          </a:p>
        </p:txBody>
      </p:sp>
      <p:pic>
        <p:nvPicPr>
          <p:cNvPr id="9" name="그림 8" descr="The image is a black and white photograph of a clear glass or plastic surface, possibly a screen or monitor, with a sharp, defined edge.&#10;&#10;AI 생성 콘텐츠는 정확하지 않을 수 있습니다.">
            <a:extLst>
              <a:ext uri="{FF2B5EF4-FFF2-40B4-BE49-F238E27FC236}">
                <a16:creationId xmlns:a16="http://schemas.microsoft.com/office/drawing/2014/main" id="{295BED80-3830-B92F-AF22-B28F9B5BF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3845791"/>
            <a:ext cx="9134475" cy="2438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938829-1215-08ED-814F-8C00D2E3282F}"/>
              </a:ext>
            </a:extLst>
          </p:cNvPr>
          <p:cNvSpPr txBox="1"/>
          <p:nvPr/>
        </p:nvSpPr>
        <p:spPr>
          <a:xfrm>
            <a:off x="3047998" y="3845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 err="1">
                <a:solidFill>
                  <a:schemeClr val="bg1"/>
                </a:solidFill>
              </a:rPr>
              <a:t>cylinder_AL_Cu</a:t>
            </a:r>
            <a:r>
              <a:rPr lang="ko-KR" altLang="ko-KR" b="1" dirty="0">
                <a:solidFill>
                  <a:schemeClr val="bg1"/>
                </a:solidFill>
              </a:rPr>
              <a:t>_</a:t>
            </a:r>
            <a:r>
              <a:rPr lang="en-US" altLang="ko-KR" b="1" dirty="0">
                <a:solidFill>
                  <a:schemeClr val="bg1"/>
                </a:solidFill>
              </a:rPr>
              <a:t>H</a:t>
            </a:r>
            <a:r>
              <a:rPr lang="ko-KR" altLang="ko-KR" b="1" dirty="0">
                <a:solidFill>
                  <a:schemeClr val="bg1"/>
                </a:solidFill>
              </a:rPr>
              <a:t>r_27108.tif</a:t>
            </a:r>
          </a:p>
        </p:txBody>
      </p:sp>
    </p:spTree>
    <p:extLst>
      <p:ext uri="{BB962C8B-B14F-4D97-AF65-F5344CB8AC3E}">
        <p14:creationId xmlns:p14="http://schemas.microsoft.com/office/powerpoint/2010/main" val="81176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FA6B2-F6D1-C702-6925-7B0CE8DC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560450E-827D-D9BB-FA61-EF7C90405F8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>
                <a:solidFill>
                  <a:schemeClr val="bg1"/>
                </a:solidFill>
              </a:rPr>
              <a:t>GPU server-Jetson </a:t>
            </a:r>
            <a:r>
              <a:rPr lang="ko-KR" altLang="en-US" sz="3200" b="1" dirty="0">
                <a:solidFill>
                  <a:schemeClr val="bg1"/>
                </a:solidFill>
              </a:rPr>
              <a:t>복원 결과 비교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F81D9AE-7EDA-AE68-D5DC-3A0ED12B653F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pic>
        <p:nvPicPr>
          <p:cNvPr id="9" name="그림 8" descr="The image is a black and white photograph of a clear glass or plastic surface, possibly a screen or monitor, with a sharp, defined edge.&#10;&#10;AI 생성 콘텐츠는 정확하지 않을 수 있습니다.">
            <a:extLst>
              <a:ext uri="{FF2B5EF4-FFF2-40B4-BE49-F238E27FC236}">
                <a16:creationId xmlns:a16="http://schemas.microsoft.com/office/drawing/2014/main" id="{93C94EB7-2D8A-C11E-E847-908F53F1F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3845791"/>
            <a:ext cx="9134475" cy="2438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162DE5-9439-03D1-D79D-DAFB451D9502}"/>
              </a:ext>
            </a:extLst>
          </p:cNvPr>
          <p:cNvSpPr txBox="1"/>
          <p:nvPr/>
        </p:nvSpPr>
        <p:spPr>
          <a:xfrm>
            <a:off x="3047998" y="3845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 err="1">
                <a:solidFill>
                  <a:schemeClr val="bg1"/>
                </a:solidFill>
              </a:rPr>
              <a:t>cylinder_AL_Cu</a:t>
            </a:r>
            <a:r>
              <a:rPr lang="ko-KR" altLang="ko-KR" b="1" dirty="0">
                <a:solidFill>
                  <a:schemeClr val="bg1"/>
                </a:solidFill>
              </a:rPr>
              <a:t>_</a:t>
            </a:r>
            <a:r>
              <a:rPr lang="en-US" altLang="ko-KR" b="1" dirty="0">
                <a:solidFill>
                  <a:schemeClr val="bg1"/>
                </a:solidFill>
              </a:rPr>
              <a:t>H</a:t>
            </a:r>
            <a:r>
              <a:rPr lang="ko-KR" altLang="ko-KR" b="1" dirty="0">
                <a:solidFill>
                  <a:schemeClr val="bg1"/>
                </a:solidFill>
              </a:rPr>
              <a:t>r_27108.tif</a:t>
            </a:r>
          </a:p>
        </p:txBody>
      </p:sp>
      <p:pic>
        <p:nvPicPr>
          <p:cNvPr id="3" name="그림 2" descr="The image appears to be a black and white image with a single horizontal line in the center, suggesting a minimalistic or abstract design.&#10;&#10;AI 생성 콘텐츠는 정확하지 않을 수 있습니다.">
            <a:extLst>
              <a:ext uri="{FF2B5EF4-FFF2-40B4-BE49-F238E27FC236}">
                <a16:creationId xmlns:a16="http://schemas.microsoft.com/office/drawing/2014/main" id="{E1CA75F0-0FC4-2811-3ED9-0A2FFD9D0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0" y="1407391"/>
            <a:ext cx="9134475" cy="2438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EF538B-980E-38C5-346B-3C23B311F638}"/>
              </a:ext>
            </a:extLst>
          </p:cNvPr>
          <p:cNvSpPr txBox="1"/>
          <p:nvPr/>
        </p:nvSpPr>
        <p:spPr>
          <a:xfrm>
            <a:off x="3047998" y="14073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jetson_fp32_representative.tif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87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F96EF-0AE5-4438-50DD-5C8EB1AF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307C694-0B03-5AFD-7A50-94F135E4C2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>
                <a:solidFill>
                  <a:schemeClr val="bg1"/>
                </a:solidFill>
              </a:rPr>
              <a:t>GPU server-Jetson </a:t>
            </a:r>
            <a:r>
              <a:rPr lang="ko-KR" altLang="en-US" sz="3200" b="1" dirty="0">
                <a:solidFill>
                  <a:schemeClr val="bg1"/>
                </a:solidFill>
              </a:rPr>
              <a:t>복원 결과 비교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D84D024-0B3B-4EB6-0B69-5712300C7638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pic>
        <p:nvPicPr>
          <p:cNvPr id="9" name="그림 8" descr="The image is a black and white photograph of a clear glass or plastic surface, possibly a screen or monitor, with a sharp, defined edge.&#10;&#10;AI 생성 콘텐츠는 정확하지 않을 수 있습니다.">
            <a:extLst>
              <a:ext uri="{FF2B5EF4-FFF2-40B4-BE49-F238E27FC236}">
                <a16:creationId xmlns:a16="http://schemas.microsoft.com/office/drawing/2014/main" id="{CC5DE25B-B8E3-86D2-FE73-F3978CB13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3845791"/>
            <a:ext cx="9134475" cy="2438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426AF3-CF70-1B22-0C81-5F66FB45EA3B}"/>
              </a:ext>
            </a:extLst>
          </p:cNvPr>
          <p:cNvSpPr txBox="1"/>
          <p:nvPr/>
        </p:nvSpPr>
        <p:spPr>
          <a:xfrm>
            <a:off x="3047998" y="3845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 err="1">
                <a:solidFill>
                  <a:schemeClr val="bg1"/>
                </a:solidFill>
              </a:rPr>
              <a:t>cylinder_AL_Cu</a:t>
            </a:r>
            <a:r>
              <a:rPr lang="ko-KR" altLang="ko-KR" b="1" dirty="0">
                <a:solidFill>
                  <a:schemeClr val="bg1"/>
                </a:solidFill>
              </a:rPr>
              <a:t>_</a:t>
            </a:r>
            <a:r>
              <a:rPr lang="en-US" altLang="ko-KR" b="1" dirty="0">
                <a:solidFill>
                  <a:schemeClr val="bg1"/>
                </a:solidFill>
              </a:rPr>
              <a:t>H</a:t>
            </a:r>
            <a:r>
              <a:rPr lang="ko-KR" altLang="ko-KR" b="1" dirty="0">
                <a:solidFill>
                  <a:schemeClr val="bg1"/>
                </a:solidFill>
              </a:rPr>
              <a:t>r_27108.tif</a:t>
            </a:r>
          </a:p>
        </p:txBody>
      </p:sp>
      <p:pic>
        <p:nvPicPr>
          <p:cNvPr id="13" name="그림 12" descr="The image is a black and white striped pattern, likely a line scan from an X-ray or medical imaging scan.&#10;&#10;AI 생성 콘텐츠는 정확하지 않을 수 있습니다.">
            <a:extLst>
              <a:ext uri="{FF2B5EF4-FFF2-40B4-BE49-F238E27FC236}">
                <a16:creationId xmlns:a16="http://schemas.microsoft.com/office/drawing/2014/main" id="{7CFCF44A-8D9C-2434-F7DD-BAF591175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1407391"/>
            <a:ext cx="9134475" cy="2438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749DF6-E4C8-C2F9-ECB9-FF813EE03C43}"/>
              </a:ext>
            </a:extLst>
          </p:cNvPr>
          <p:cNvSpPr txBox="1"/>
          <p:nvPr/>
        </p:nvSpPr>
        <p:spPr>
          <a:xfrm>
            <a:off x="3047998" y="14073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jetson_fp16_representative.tif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542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0AAA5-B5AA-6D7D-ABE8-ACB71325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FDF6BAB-58BA-8D30-47A0-2C303D3AFA3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>
                <a:solidFill>
                  <a:schemeClr val="bg1"/>
                </a:solidFill>
              </a:rPr>
              <a:t>GPU server-Jetson </a:t>
            </a:r>
            <a:r>
              <a:rPr lang="ko-KR" altLang="en-US" sz="3200" b="1" dirty="0">
                <a:solidFill>
                  <a:schemeClr val="bg1"/>
                </a:solidFill>
              </a:rPr>
              <a:t>복원 결과 비교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B76DE71-B4E2-3DF8-69EF-3C1224FB3BDA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  <p:pic>
        <p:nvPicPr>
          <p:cNvPr id="13" name="그림 12" descr="The image is a black and white striped pattern, likely a line scan from an X-ray or medical imaging scan.&#10;&#10;AI 생성 콘텐츠는 정확하지 않을 수 있습니다.">
            <a:extLst>
              <a:ext uri="{FF2B5EF4-FFF2-40B4-BE49-F238E27FC236}">
                <a16:creationId xmlns:a16="http://schemas.microsoft.com/office/drawing/2014/main" id="{8766C7FD-D883-EF54-6F0A-9A9557737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4419600"/>
            <a:ext cx="9134475" cy="2438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C7E6B4-F5B3-CDD3-34CB-C57243B383D6}"/>
              </a:ext>
            </a:extLst>
          </p:cNvPr>
          <p:cNvSpPr txBox="1"/>
          <p:nvPr/>
        </p:nvSpPr>
        <p:spPr>
          <a:xfrm>
            <a:off x="3047998" y="4648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jetson_fp16_representative.tif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3" name="그림 2" descr="The image appears to be a black and white image with a single horizontal line in the center, suggesting a minimalistic or abstract design.&#10;&#10;AI 생성 콘텐츠는 정확하지 않을 수 있습니다.">
            <a:extLst>
              <a:ext uri="{FF2B5EF4-FFF2-40B4-BE49-F238E27FC236}">
                <a16:creationId xmlns:a16="http://schemas.microsoft.com/office/drawing/2014/main" id="{C8A55594-CCF8-EB11-8DB5-61FAD7514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2209800"/>
            <a:ext cx="9134475" cy="2438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7A36C6-A969-B8D4-8C65-2D3D28BBB115}"/>
              </a:ext>
            </a:extLst>
          </p:cNvPr>
          <p:cNvSpPr txBox="1"/>
          <p:nvPr/>
        </p:nvSpPr>
        <p:spPr>
          <a:xfrm>
            <a:off x="3047998" y="24384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jetson_fp32_representative.tif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12" name="그림 11" descr="The image appears to be a black and white photograph or digital image with a striped or patterned texture, but without further context, it's difficult to determine the content or subject matter.&#10;&#10;AI 생성 콘텐츠는 정확하지 않을 수 있습니다.">
            <a:extLst>
              <a:ext uri="{FF2B5EF4-FFF2-40B4-BE49-F238E27FC236}">
                <a16:creationId xmlns:a16="http://schemas.microsoft.com/office/drawing/2014/main" id="{52B37FCD-D756-F8FE-740F-8886BE0D8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0"/>
            <a:ext cx="9134475" cy="2438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144053-A53D-8B38-8BD3-A01F175CE7EC}"/>
              </a:ext>
            </a:extLst>
          </p:cNvPr>
          <p:cNvSpPr txBox="1"/>
          <p:nvPr/>
        </p:nvSpPr>
        <p:spPr>
          <a:xfrm>
            <a:off x="3047998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gpu_server_fp32_representative.tif</a:t>
            </a:r>
          </a:p>
        </p:txBody>
      </p:sp>
    </p:spTree>
    <p:extLst>
      <p:ext uri="{BB962C8B-B14F-4D97-AF65-F5344CB8AC3E}">
        <p14:creationId xmlns:p14="http://schemas.microsoft.com/office/powerpoint/2010/main" val="1325644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0EC4A-9371-F8BB-E6C7-0695F395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6FA35AA-9F1C-324F-F926-6689D3AC0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818" y="998789"/>
            <a:ext cx="11166764" cy="5370945"/>
          </a:xfrm>
        </p:spPr>
        <p:txBody>
          <a:bodyPr anchor="ctr" anchorCtr="0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ko-KR" dirty="0"/>
              <a:t>INT8</a:t>
            </a:r>
            <a:r>
              <a:rPr lang="ko-KR" altLang="en-US" dirty="0"/>
              <a:t> 적용 검토 및 실험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0652C61-7E12-832E-8AB6-5A6E9A71872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070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 sz="3200" b="1" dirty="0">
                <a:solidFill>
                  <a:schemeClr val="bg1"/>
                </a:solidFill>
              </a:rPr>
              <a:t>결론 및 향후 계획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513B150-2009-68D7-1FA2-7946C19870A8}"/>
              </a:ext>
            </a:extLst>
          </p:cNvPr>
          <p:cNvSpPr txBox="1">
            <a:spLocks/>
          </p:cNvSpPr>
          <p:nvPr/>
        </p:nvSpPr>
        <p:spPr>
          <a:xfrm>
            <a:off x="0" y="6700982"/>
            <a:ext cx="12192000" cy="15701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3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231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2195</TotalTime>
  <Words>820</Words>
  <Application>Microsoft Office PowerPoint</Application>
  <PresentationFormat>와이드스크린</PresentationFormat>
  <Paragraphs>203</Paragraphs>
  <Slides>14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DWT–MambaIRv2의 Jetson 이식과 FP32/FP16 성능 평가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노지한(2019140007)</dc:creator>
  <cp:lastModifiedBy>진석 양</cp:lastModifiedBy>
  <cp:revision>75</cp:revision>
  <dcterms:created xsi:type="dcterms:W3CDTF">2024-10-27T11:55:08Z</dcterms:created>
  <dcterms:modified xsi:type="dcterms:W3CDTF">2026-07-23T08:02:15Z</dcterms:modified>
</cp:coreProperties>
</file>